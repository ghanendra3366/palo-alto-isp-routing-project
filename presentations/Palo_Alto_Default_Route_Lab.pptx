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2761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82296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8229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LAB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1488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Palo Alto Firewall Lab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22960" y="3035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Default Route on Palo Alto towards ISP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22960" y="379476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794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  →  next-hop 100.1.1.1  →  Ethernet1/2 (Untrust)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2960" y="4617720"/>
            <a:ext cx="5486400" cy="0"/>
          </a:xfrm>
          <a:prstGeom prst="line">
            <a:avLst/>
          </a:prstGeom>
          <a:noFill/>
          <a:ln w="12700">
            <a:solidFill>
              <a:srgbClr val="2C3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5193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Ghanendra Tiwari    •    Hanuman Farroda    •    Harman Sain    •    Harshal Gautam    •    Hemant Pratap Singh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/ VPC  →  PALO ALTO FIREWALL  →  ISP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148132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verify a default static route (0.0.0.0/0) on a Palo Alto firewall so that unknown or external destinations are correctly forwarded toward the ISP.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57200" y="2542032"/>
            <a:ext cx="6583680" cy="3566160"/>
          </a:xfrm>
          <a:prstGeom prst="roundRect">
            <a:avLst>
              <a:gd name="adj" fmla="val 2564"/>
            </a:avLst>
          </a:prstGeom>
          <a:solidFill>
            <a:srgbClr val="121A33"/>
          </a:solidFill>
          <a:ln w="12700">
            <a:solidFill>
              <a:srgbClr val="2C3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761488"/>
            <a:ext cx="5989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default static route on the firewall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unknown / external destinations toward the ISP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Untrust interface Ethernet1/2 — 100.1.1.2/24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ISP next hop 100.1.1.1 as the gateway of last resort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routing using the routing table, ping and FIB lookup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Routing vs Security Policy vs NAT vs Return Routing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406640" y="1481328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481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06640" y="2084832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1C2A52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34656" y="2249424"/>
            <a:ext cx="73152" cy="566928"/>
          </a:xfrm>
          <a:prstGeom prst="roundRect">
            <a:avLst/>
          </a:prstGeom>
          <a:solidFill>
            <a:srgbClr val="00D9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2505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selection to a destination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06640" y="3127248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1C2A52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34656" y="3291840"/>
            <a:ext cx="73152" cy="566928"/>
          </a:xfrm>
          <a:prstGeom prst="roundRect">
            <a:avLst/>
          </a:prstGeom>
          <a:solidFill>
            <a:srgbClr val="39D98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3547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or denies the traffic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06640" y="4169664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1C2A52"/>
          </a:solidFill>
          <a:ln w="15875">
            <a:solidFill>
              <a:srgbClr val="FFC1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4656" y="4334256"/>
            <a:ext cx="73152" cy="566928"/>
          </a:xfrm>
          <a:prstGeom prst="roundRect">
            <a:avLst/>
          </a:prstGeom>
          <a:solidFill>
            <a:srgbClr val="FFC15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42611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private → public IPs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06640" y="5212080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1C2A52"/>
          </a:solidFill>
          <a:ln w="15875">
            <a:solidFill>
              <a:srgbClr val="FF5C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34656" y="5376672"/>
            <a:ext cx="73152" cy="566928"/>
          </a:xfrm>
          <a:prstGeom prst="roundRect">
            <a:avLst/>
          </a:prstGeom>
          <a:solidFill>
            <a:srgbClr val="FF5C5C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Routing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0" y="5632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reply traffic get back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Topology &amp; IP Addressing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55448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1C2A52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20848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/ VPC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2395728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192.168.10.10/24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37460" y="2606040"/>
            <a:ext cx="0" cy="502920"/>
          </a:xfrm>
          <a:prstGeom prst="line">
            <a:avLst/>
          </a:prstGeom>
          <a:noFill/>
          <a:ln w="22225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4718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(E1/1)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1089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1C2A52"/>
          </a:solidFill>
          <a:ln w="19050">
            <a:solidFill>
              <a:srgbClr val="39D98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200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7200" y="36393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9502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E1/1 (Trust): 192.168.10.1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E1/2 (Untrust): 100.1.1.2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37460" y="4526280"/>
            <a:ext cx="0" cy="502920"/>
          </a:xfrm>
          <a:prstGeom prst="line">
            <a:avLst/>
          </a:prstGeom>
          <a:noFill/>
          <a:ln w="22225">
            <a:solidFill>
              <a:srgbClr val="00D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47188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 (E1/2)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1C2A52"/>
          </a:solidFill>
          <a:ln w="19050">
            <a:solidFill>
              <a:srgbClr val="FFC15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5120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57200" y="55595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870448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Hop: 100.1.1.1/24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74920" y="1554480"/>
            <a:ext cx="665683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1554480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Table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103120"/>
          <a:ext cx="6656832" cy="201168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2103120"/>
                <a:gridCol w="15361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PC1 / VPC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192.168.10.10/24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Palo Alto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Ethernet1/1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192.168.10.1/24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 (LAN)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Palo Alto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Ethernet1/2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100.1.1.2/24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Untrust (WAN)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100.1.1.1/24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5074920" y="4343400"/>
            <a:ext cx="665683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2080" y="4343400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5257800" y="4864608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simulated in PNETLab (topology view)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PC1/VPC, Palo Alto firewall and ISP nodes connected via virtual links eth1/1 and eth1/2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PNETLab hosted on a VMware Workstation virtual machine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Default Route?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155448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route is written as 0.0.0.0/0 — it matches every possible destination.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uses it only when no more-specific route matches the destination address.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lab, matching traffic is forwarded to the ISP gateway 100.1.1.1.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exits the firewall through Ethernet1/2, the Untrust interface.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89320" y="1554480"/>
            <a:ext cx="574243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55448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Flow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89320" y="2514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C2A52"/>
          </a:solidFill>
          <a:ln w="19050">
            <a:solidFill>
              <a:srgbClr val="8FA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8F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9480" y="2971800"/>
            <a:ext cx="192024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61504" y="2514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C2A5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1504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41664" y="2971800"/>
            <a:ext cx="192024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933688" y="2514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C2A5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33688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100.1.1.1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213848" y="2971800"/>
            <a:ext cx="192024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405872" y="2514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C2A52"/>
          </a:solidFill>
          <a:ln w="19050">
            <a:solidFill>
              <a:srgbClr val="FFC1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05872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89320" y="3886200"/>
            <a:ext cx="5742432" cy="1234440"/>
          </a:xfrm>
          <a:prstGeom prst="roundRect">
            <a:avLst>
              <a:gd name="adj" fmla="val 7407"/>
            </a:avLst>
          </a:prstGeom>
          <a:solidFill>
            <a:srgbClr val="121A33"/>
          </a:solidFill>
          <a:ln w="12700">
            <a:solidFill>
              <a:srgbClr val="2C3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0233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always prefers the most specific matching route in the routing table. The default route is the catch-all used only when nothing else matches.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89320" y="5349240"/>
            <a:ext cx="5742432" cy="502920"/>
          </a:xfrm>
          <a:prstGeom prst="roundRect">
            <a:avLst>
              <a:gd name="adj" fmla="val 10909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5349240"/>
            <a:ext cx="546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→ 0.0.0.0/0 via 100.1.1.1 dev ethernet1/2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Route Configuration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536192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1536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 Parameters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120640" cy="288036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Router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DEFAULT-TO-ISP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0.0.0.0/0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Ethernet1/2 (Untrust)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100.1.1.1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57200" y="516636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0F2A20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5166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Commit applies the route to the running configuration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916168" y="1463040"/>
            <a:ext cx="5888736" cy="4352544"/>
          </a:xfrm>
          <a:prstGeom prst="roundRect">
            <a:avLst>
              <a:gd name="adj" fmla="val 1681"/>
            </a:avLst>
          </a:prstGeom>
          <a:solidFill>
            <a:srgbClr val="000000"/>
          </a:solidFill>
          <a:ln w="15875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pic>
        <p:nvPicPr>
          <p:cNvPr id="32" name="Image 0" descr="/home/claude/paloalto_pptx/paloalto_cl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26048"/>
            <a:ext cx="5742432" cy="3226529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989320" y="1536192"/>
            <a:ext cx="5742432" cy="4206240"/>
          </a:xfrm>
          <a:prstGeom prst="roundRect">
            <a:avLst>
              <a:gd name="adj" fmla="val 435"/>
            </a:avLst>
          </a:prstGeom>
          <a:ln w="9525">
            <a:solidFill>
              <a:srgbClr val="3A4A7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916168" y="5833872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CLI — ping test to ISP gateway 100.1.1.1 (38/38 packets, 0% loss), interface management-profile configured on Ethernet1/2, and configuration committed successfully.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Policy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536192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2A1420"/>
          </a:solidFill>
          <a:ln w="15875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15361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alone does NOT automatically allow traffic through the firewall. A matching Security Policy rule must also permit it.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→ Untrust Policy Rule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6858000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PC1 / 192.168.10.10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Untrust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any / required destination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/ required application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application-default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D9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B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2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7635240" y="2606040"/>
            <a:ext cx="409651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26060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818120" y="3127248"/>
            <a:ext cx="3794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table only decides the path a packet could take.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is a Layer 7 firewall — every session is checked against security policy rules.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Allow rule from Trust to Untrust, matching traffic is silently denied.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are evaluated top-down; place specific rules above broad deny rules.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PATH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 Return Route and NAT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C2A52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/ VPC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192.168.10.10/24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C2A52"/>
          </a:solidFill>
          <a:ln w="19050">
            <a:solidFill>
              <a:srgbClr val="39D98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9204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↔ Untrust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 / 100.1.1.2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2688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C2A52"/>
          </a:solidFill>
          <a:ln w="19050">
            <a:solidFill>
              <a:srgbClr val="FFC15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268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2688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18320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100.1.1.1/24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34640" y="1536192"/>
            <a:ext cx="20574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834640" y="1243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→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1536192"/>
            <a:ext cx="20574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92040" y="3493008"/>
            <a:ext cx="-2057400" cy="0"/>
          </a:xfrm>
          <a:prstGeom prst="line">
            <a:avLst/>
          </a:prstGeom>
          <a:noFill/>
          <a:ln w="25400">
            <a:solidFill>
              <a:srgbClr val="FFC15E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834640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Return traffic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326880" y="3493008"/>
            <a:ext cx="-2057400" cy="0"/>
          </a:xfrm>
          <a:prstGeom prst="line">
            <a:avLst/>
          </a:prstGeom>
          <a:noFill/>
          <a:ln w="25400">
            <a:solidFill>
              <a:srgbClr val="FFC15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" y="393192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ISP-side route:  192.168.10.0/24  →  next-hop 100.1.1.2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572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7200" y="50749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ISP needs its own return route back to the Trust network: 192.168.10.0/24 via 100.1.1.2.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route alone only gets traffic out — it does not guarantee replies find their way back.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45352" y="45720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4572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Considerations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245352" y="50749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addresses (like 192.168.10.0/24) are not routable on the public Internet.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/ public connectivity, Source NAT from Trust to Untrust may be required.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design depends on the specific lab simulator and upstream network setup.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53619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1536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Commands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2084832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084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routing route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468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full routing table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816352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routing route type static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routing table to static routes 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547872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47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routing route destination 0.0.0.0/0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default route is present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source 100.1.1.2 host 100.1.1.1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18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reachability to the ISP next hop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16636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routing fib-lookup virtual-router default ip 8.8.8.8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5504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which route the FIB selects for an external IP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99048" y="1463040"/>
            <a:ext cx="5724144" cy="2231136"/>
          </a:xfrm>
          <a:prstGeom prst="roundRect">
            <a:avLst>
              <a:gd name="adj" fmla="val 3279"/>
            </a:avLst>
          </a:prstGeom>
          <a:solidFill>
            <a:srgbClr val="000000"/>
          </a:solidFill>
          <a:ln w="15875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pic>
        <p:nvPicPr>
          <p:cNvPr id="44" name="Image 0" descr="/home/claude/paloalto_pptx/vpc_termin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45" y="1536192"/>
            <a:ext cx="3698150" cy="2084832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6172200" y="1536192"/>
            <a:ext cx="5577840" cy="2084832"/>
          </a:xfrm>
          <a:prstGeom prst="roundRect">
            <a:avLst>
              <a:gd name="adj" fmla="val 877"/>
            </a:avLst>
          </a:prstGeom>
          <a:ln w="9525">
            <a:solidFill>
              <a:srgbClr val="3A4A7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99048" y="3712464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PC1/VPC: gateway reachable at 192.168.10.1; ISP gateway 100.1.1.1 unreachable before routing/config, then successful after the default route takes effect.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099048" y="4178808"/>
            <a:ext cx="5724144" cy="1746504"/>
          </a:xfrm>
          <a:prstGeom prst="roundRect">
            <a:avLst>
              <a:gd name="adj" fmla="val 4188"/>
            </a:avLst>
          </a:prstGeom>
          <a:solidFill>
            <a:srgbClr val="000000"/>
          </a:solidFill>
          <a:ln w="15875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pic>
        <p:nvPicPr>
          <p:cNvPr id="48" name="Image 1" descr="/home/claude/paloalto_pptx/isp_terminal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138" y="4251960"/>
            <a:ext cx="2847964" cy="1600200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6172200" y="4251960"/>
            <a:ext cx="5577840" cy="1600200"/>
          </a:xfrm>
          <a:prstGeom prst="roundRect">
            <a:avLst>
              <a:gd name="adj" fmla="val 1143"/>
            </a:avLst>
          </a:prstGeom>
          <a:ln w="9525">
            <a:solidFill>
              <a:srgbClr val="3A4A7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099048" y="594360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side: ping to Untrust interface 100.1.1.2 succeeds once addressing and the firewall route/commit are in place.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Guide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57276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121A33"/>
          </a:solidFill>
          <a:ln w="9525">
            <a:solidFill>
              <a:srgbClr val="2C3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1719072"/>
            <a:ext cx="502920" cy="502920"/>
          </a:xfrm>
          <a:prstGeom prst="ellipse">
            <a:avLst/>
          </a:prstGeom>
          <a:solidFill>
            <a:srgbClr val="FF5C5C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162763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Next-hop ping fails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0" y="1975104"/>
            <a:ext cx="4114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577840" y="1627632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WAN IP, physical/virtual link, zone assignment and ISP-side addressing.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2505456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121A33"/>
          </a:solidFill>
          <a:ln w="9525">
            <a:solidFill>
              <a:srgbClr val="2C3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2651760"/>
            <a:ext cx="502920" cy="502920"/>
          </a:xfrm>
          <a:prstGeom prst="ellipse">
            <a:avLst/>
          </a:prstGeom>
          <a:solidFill>
            <a:srgbClr val="FF5C5C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25880" y="256032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 missing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029200" y="2907792"/>
            <a:ext cx="4114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577840" y="2560320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Virtual Router and static route entry, then Commit the configuration.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3438144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121A33"/>
          </a:solidFill>
          <a:ln w="9525">
            <a:solidFill>
              <a:srgbClr val="2C3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3584448"/>
            <a:ext cx="502920" cy="502920"/>
          </a:xfrm>
          <a:prstGeom prst="ellipse">
            <a:avLst/>
          </a:prstGeom>
          <a:solidFill>
            <a:srgbClr val="FF5C5C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5880" y="349300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exists but traffic fails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029200" y="3840480"/>
            <a:ext cx="4114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577840" y="3493008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Security Policy, NAT rules and the ISP return route.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7200" y="4370832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121A33"/>
          </a:solidFill>
          <a:ln w="9525">
            <a:solidFill>
              <a:srgbClr val="2C3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4517136"/>
            <a:ext cx="502920" cy="502920"/>
          </a:xfrm>
          <a:prstGeom prst="ellipse">
            <a:avLst/>
          </a:prstGeom>
          <a:solidFill>
            <a:srgbClr val="FF5C5C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25880" y="4425696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denied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5029200" y="4773168"/>
            <a:ext cx="4114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577840" y="4425696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Traffic logs and verify security policy rule order.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57200" y="530352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121A33"/>
          </a:solidFill>
          <a:ln w="9525">
            <a:solidFill>
              <a:srgbClr val="2C3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" y="5449824"/>
            <a:ext cx="502920" cy="502920"/>
          </a:xfrm>
          <a:prstGeom prst="ellipse">
            <a:avLst/>
          </a:prstGeom>
          <a:solidFill>
            <a:srgbClr val="FF5C5C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1792" y="544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25880" y="5358384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cannot reach firewall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5029200" y="5705856"/>
            <a:ext cx="4114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577840" y="5358384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IP address, subnet mask and default gateway on PC1.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Successful Verification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15544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PC1/VPC is configured as 192.168.10.10/24 with gateway 192.168.10.1.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successfully reaches the Palo Alto Trust interface (192.168.10.1).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to the ISP gateway 100.1.1.1 is successfully demonstrated.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Alto's Untrust interface, 100.1.1.2, responds to the ISP-side host.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route correctly forwards unknown destinations toward the ISP.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F2A20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8920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0% packet loss recorded on the firewall-to-ISP ping test (38/38 packets)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99048" y="1481328"/>
            <a:ext cx="5724144" cy="4443984"/>
          </a:xfrm>
          <a:prstGeom prst="roundRect">
            <a:avLst>
              <a:gd name="adj" fmla="val 1646"/>
            </a:avLst>
          </a:prstGeom>
          <a:solidFill>
            <a:srgbClr val="000000"/>
          </a:solidFill>
          <a:ln w="15875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0" descr="/home/claude/paloalto_pptx/vmware_hos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38039"/>
            <a:ext cx="5577840" cy="3130563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172200" y="1554480"/>
            <a:ext cx="5577840" cy="4297680"/>
          </a:xfrm>
          <a:prstGeom prst="roundRect">
            <a:avLst>
              <a:gd name="adj" fmla="val 426"/>
            </a:avLst>
          </a:prstGeom>
          <a:ln w="9525">
            <a:solidFill>
              <a:srgbClr val="3A4A7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99048" y="594360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PNETLab environment running inside VMware Workstation — the virtualization host on which the full PC1 / Palo Alto / ISP topology was executed.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691640"/>
            <a:ext cx="3544824" cy="1874520"/>
          </a:xfrm>
          <a:prstGeom prst="roundRect">
            <a:avLst>
              <a:gd name="adj" fmla="val 4878"/>
            </a:avLst>
          </a:prstGeom>
          <a:solidFill>
            <a:srgbClr val="1C2A52"/>
          </a:solidFill>
          <a:ln w="15875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1874520"/>
            <a:ext cx="73152" cy="457200"/>
          </a:xfrm>
          <a:prstGeom prst="roundRect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183794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3232" y="2441448"/>
            <a:ext cx="303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forwarding path for unknown / unmatched destinations.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22064" y="1691640"/>
            <a:ext cx="3544824" cy="1874520"/>
          </a:xfrm>
          <a:prstGeom prst="roundRect">
            <a:avLst>
              <a:gd name="adj" fmla="val 4878"/>
            </a:avLst>
          </a:prstGeom>
          <a:solidFill>
            <a:srgbClr val="1C2A52"/>
          </a:solidFill>
          <a:ln w="15875">
            <a:solidFill>
              <a:srgbClr val="39D98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3232" y="1874520"/>
            <a:ext cx="73152" cy="457200"/>
          </a:xfrm>
          <a:prstGeom prst="roundRect">
            <a:avLst/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6112" y="183794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78096" y="2441448"/>
            <a:ext cx="303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whether traffic is actually allowed through the firewall.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6928" y="1691640"/>
            <a:ext cx="3544824" cy="1874520"/>
          </a:xfrm>
          <a:prstGeom prst="roundRect">
            <a:avLst>
              <a:gd name="adj" fmla="val 4878"/>
            </a:avLst>
          </a:prstGeom>
          <a:solidFill>
            <a:srgbClr val="1C2A52"/>
          </a:solidFill>
          <a:ln w="15875">
            <a:solidFill>
              <a:srgbClr val="FFC15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88096" y="1874520"/>
            <a:ext cx="73152" cy="457200"/>
          </a:xfrm>
          <a:prstGeom prst="roundRect">
            <a:avLst/>
          </a:prstGeom>
          <a:solidFill>
            <a:srgbClr val="FFC15E"/>
          </a:solidFill>
          <a:ln/>
        </p:spPr>
      </p:sp>
      <p:sp>
        <p:nvSpPr>
          <p:cNvPr id="36" name="Text 34"/>
          <p:cNvSpPr/>
          <p:nvPr/>
        </p:nvSpPr>
        <p:spPr>
          <a:xfrm>
            <a:off x="8570976" y="183794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442960" y="2441448"/>
            <a:ext cx="303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private addresses when required for real connectivity.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3544824" cy="1874520"/>
          </a:xfrm>
          <a:prstGeom prst="roundRect">
            <a:avLst>
              <a:gd name="adj" fmla="val 4878"/>
            </a:avLst>
          </a:prstGeom>
          <a:solidFill>
            <a:srgbClr val="1C2A52"/>
          </a:solidFill>
          <a:ln w="15875">
            <a:solidFill>
              <a:srgbClr val="FF5C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4069080"/>
            <a:ext cx="73152" cy="457200"/>
          </a:xfrm>
          <a:prstGeom prst="roundRect">
            <a:avLst/>
          </a:prstGeom>
          <a:solidFill>
            <a:srgbClr val="FF5C5C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403250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Routing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13232" y="4636008"/>
            <a:ext cx="303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on the far end for genuine two-way communication.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22064" y="3886200"/>
            <a:ext cx="3544824" cy="1874520"/>
          </a:xfrm>
          <a:prstGeom prst="roundRect">
            <a:avLst>
              <a:gd name="adj" fmla="val 4878"/>
            </a:avLst>
          </a:prstGeom>
          <a:solidFill>
            <a:srgbClr val="1C2A52"/>
          </a:solidFill>
          <a:ln w="15875">
            <a:solidFill>
              <a:srgbClr val="5FE0F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23232" y="4069080"/>
            <a:ext cx="73152" cy="457200"/>
          </a:xfrm>
          <a:prstGeom prst="roundRect">
            <a:avLst/>
          </a:prstGeom>
          <a:solidFill>
            <a:srgbClr val="5FE0FF"/>
          </a:solidFill>
          <a:ln/>
        </p:spPr>
      </p:sp>
      <p:sp>
        <p:nvSpPr>
          <p:cNvPr id="44" name="Text 42"/>
          <p:cNvSpPr/>
          <p:nvPr/>
        </p:nvSpPr>
        <p:spPr>
          <a:xfrm>
            <a:off x="4706112" y="403250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 / FIB Lookup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8096" y="4636008"/>
            <a:ext cx="303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verify exactly how the firewall forwards traffic.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74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149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8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873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022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5968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7460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206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88952" y="0"/>
            <a:ext cx="0" cy="685800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979714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59429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39143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18857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98571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878286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88952" cy="0"/>
          </a:xfrm>
          <a:prstGeom prst="line">
            <a:avLst/>
          </a:prstGeom>
          <a:noFill/>
          <a:ln w="6350">
            <a:solidFill>
              <a:srgbClr val="23305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4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A52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78638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57200" y="160020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060A16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16002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route:  0.0.0.0/0  via  100.1.1.1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242316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uses the default route only when no more-specific route exists in the routing table.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connectivity depends on the combination of Routing, Security Policy, NAT and Return Routing — not routing alone.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successfully demonstrates configuration and verification of a Palo Alto default route toward the ISP, confirmed through live ping tests and CLI output.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0" y="1600200"/>
            <a:ext cx="3502152" cy="4297680"/>
          </a:xfrm>
          <a:prstGeom prst="roundRect">
            <a:avLst>
              <a:gd name="adj" fmla="val 3133"/>
            </a:avLst>
          </a:prstGeom>
          <a:solidFill>
            <a:srgbClr val="121A33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810512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RECAP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233172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/ VPC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283464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3200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Palo Alto Firewall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37033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0690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 (100.1.1.1)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58200" y="4663440"/>
            <a:ext cx="3044952" cy="0"/>
          </a:xfrm>
          <a:prstGeom prst="line">
            <a:avLst/>
          </a:prstGeom>
          <a:noFill/>
          <a:ln w="12700">
            <a:solidFill>
              <a:srgbClr val="2C3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84632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519379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Firewall Lab  |  Default Route to ISP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2026-08-29T08:22:54Z</dcterms:created>
  <dcterms:modified xsi:type="dcterms:W3CDTF">2026-08-29T08:22:54Z</dcterms:modified>
</cp:coreProperties>
</file>